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 type="screen16x9"/>
  <p:notesSz cx="6858000" cy="9144000"/>
  <p:defaultTextStyle>
    <a:defPPr>
      <a:defRPr lang="zh-CN" sz="1800">
        <a:latin typeface="Microsoft YaHei"/>
        <a:ea typeface="Microsoft YaHei"/>
      </a:defRPr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66928" y="310896"/>
            <a:ext cx="110185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600" b="1">
                <a:solidFill>
                  <a:srgbClr val="102A43"/>
                </a:solidFill>
                <a:latin typeface="Microsoft YaHei"/>
                <a:ea typeface="Microsoft YaHei"/>
              </a:rPr>
              <a:t xml:space="preserve">供应链 ESG 审查结论需要绑定采购准入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85216" y="89611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600">
                <a:solidFill>
                  <a:srgbClr val="486581"/>
                </a:solidFill>
                <a:latin typeface="Microsoft YaHei"/>
                <a:ea typeface="Microsoft YaHei"/>
              </a:rPr>
              <a:t xml:space="preserve">华东智造集团 | 供应商：嘉兴精密部件有限公司 | 评级 B+ | 复核期：2026Q3</a:t>
            </a:r>
          </a:p>
        </p:txBody>
      </p:sp>
      <p:sp>
        <p:nvSpPr>
          <p:cNvPr id="4" name="Section 4 Heading"/>
          <p:cNvSpPr txBox="1"/>
          <p:nvPr/>
        </p:nvSpPr>
        <p:spPr>
          <a:xfrm>
            <a:off x="658368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采购准入结论</a:t>
            </a:r>
          </a:p>
        </p:txBody>
      </p:sp>
      <p:sp>
        <p:nvSpPr>
          <p:cNvPr id="5" name="Section 5 Body"/>
          <p:cNvSpPr txBox="1"/>
          <p:nvPr/>
        </p:nvSpPr>
        <p:spPr>
          <a:xfrm>
            <a:off x="658368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维持合格供应商资格，但新增订单需绑定整改节点。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逾期未完成整改，暂停新增采购订单和预付款申请。</a:t>
            </a:r>
          </a:p>
        </p:txBody>
      </p:sp>
      <p:sp>
        <p:nvSpPr>
          <p:cNvPr id="6" name="Section 6 Heading"/>
          <p:cNvSpPr txBox="1"/>
          <p:nvPr/>
        </p:nvSpPr>
        <p:spPr>
          <a:xfrm>
            <a:off x="4416552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核心风险</a:t>
            </a:r>
          </a:p>
        </p:txBody>
      </p:sp>
      <p:sp>
        <p:nvSpPr>
          <p:cNvPr id="7" name="Section 7 Body"/>
          <p:cNvSpPr txBox="1"/>
          <p:nvPr/>
        </p:nvSpPr>
        <p:spPr>
          <a:xfrm>
            <a:off x="4416552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废水在线监测未联网，危废转运台账留痕不足。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劳务派遣比例为 18%，高于 10% 的管理目标。</a:t>
            </a:r>
          </a:p>
        </p:txBody>
      </p:sp>
      <p:sp>
        <p:nvSpPr>
          <p:cNvPr id="8" name="Section 8 Heading"/>
          <p:cNvSpPr txBox="1"/>
          <p:nvPr/>
        </p:nvSpPr>
        <p:spPr>
          <a:xfrm>
            <a:off x="8174736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管理动作</a:t>
            </a:r>
          </a:p>
        </p:txBody>
      </p:sp>
      <p:sp>
        <p:nvSpPr>
          <p:cNvPr id="9" name="Section 9 Body"/>
          <p:cNvSpPr txBox="1"/>
          <p:nvPr/>
        </p:nvSpPr>
        <p:spPr>
          <a:xfrm>
            <a:off x="8174736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供应链中心按月复核整改证据，法务合规部留存底稿。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付款审批与验收结论、整改进度和采购准入状态联动。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85216" y="6419088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 xml:space="preserve">供应链 ESG 审查 | 第 1 页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66928" y="310896"/>
            <a:ext cx="110185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600" b="1">
                <a:solidFill>
                  <a:srgbClr val="102A43"/>
                </a:solidFill>
                <a:latin typeface="Microsoft YaHei"/>
                <a:ea typeface="Microsoft YaHei"/>
              </a:rPr>
              <a:t xml:space="preserve">环保合规缺口集中在监测联网和证据留痕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85216" y="89611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600">
                <a:solidFill>
                  <a:srgbClr val="486581"/>
                </a:solidFill>
                <a:latin typeface="Microsoft YaHei"/>
                <a:ea typeface="Microsoft YaHei"/>
              </a:rPr>
              <a:t xml:space="preserve">审查范围：环保合规、劳工用工、安全生产和包装材料回收</a:t>
            </a:r>
          </a:p>
        </p:txBody>
      </p:sp>
      <p:sp>
        <p:nvSpPr>
          <p:cNvPr id="4" name="Section 4 Heading"/>
          <p:cNvSpPr txBox="1"/>
          <p:nvPr/>
        </p:nvSpPr>
        <p:spPr>
          <a:xfrm>
            <a:off x="658368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环保合规缺口</a:t>
            </a:r>
          </a:p>
        </p:txBody>
      </p:sp>
      <p:sp>
        <p:nvSpPr>
          <p:cNvPr id="5" name="Section 5 Body"/>
          <p:cNvSpPr txBox="1"/>
          <p:nvPr/>
        </p:nvSpPr>
        <p:spPr>
          <a:xfrm>
            <a:off x="658368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废水在线监测设备需在 2026-09-30 前完成联网。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危废转运联单需补齐批次编号、重量和接收单位回执。</a:t>
            </a:r>
          </a:p>
        </p:txBody>
      </p:sp>
      <p:sp>
        <p:nvSpPr>
          <p:cNvPr id="6" name="Section 6 Heading"/>
          <p:cNvSpPr txBox="1"/>
          <p:nvPr/>
        </p:nvSpPr>
        <p:spPr>
          <a:xfrm>
            <a:off x="4416552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用工与安全</a:t>
            </a:r>
          </a:p>
        </p:txBody>
      </p:sp>
      <p:sp>
        <p:nvSpPr>
          <p:cNvPr id="7" name="Section 7 Body"/>
          <p:cNvSpPr txBox="1"/>
          <p:nvPr/>
        </p:nvSpPr>
        <p:spPr>
          <a:xfrm>
            <a:off x="4416552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劳务派遣比例需从 18% 降至 10% 以下。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夜班安全巡检记录缺少复核签字，需补充闭环记录。</a:t>
            </a:r>
          </a:p>
        </p:txBody>
      </p:sp>
      <p:sp>
        <p:nvSpPr>
          <p:cNvPr id="8" name="Section 8 Heading"/>
          <p:cNvSpPr txBox="1"/>
          <p:nvPr/>
        </p:nvSpPr>
        <p:spPr>
          <a:xfrm>
            <a:off x="8174736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包装回收</a:t>
            </a:r>
          </a:p>
        </p:txBody>
      </p:sp>
      <p:sp>
        <p:nvSpPr>
          <p:cNvPr id="9" name="Section 9 Body"/>
          <p:cNvSpPr txBox="1"/>
          <p:nvPr/>
        </p:nvSpPr>
        <p:spPr>
          <a:xfrm>
            <a:off x="8174736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包装材料回收率当前 62%，目标提升至 75%。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新增订单优先使用可循环周转箱，减少一次性木箱使用。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85216" y="6419088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 xml:space="preserve">供应链 ESG 审查 | 第 2 页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66928" y="310896"/>
            <a:ext cx="110185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600" b="1">
                <a:solidFill>
                  <a:srgbClr val="102A43"/>
                </a:solidFill>
                <a:latin typeface="Microsoft YaHei"/>
                <a:ea typeface="Microsoft YaHei"/>
              </a:rPr>
              <a:t xml:space="preserve">整改责任矩阵把 ESG 风险转成可跟踪动作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85216" y="89611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600">
                <a:solidFill>
                  <a:srgbClr val="486581"/>
                </a:solidFill>
                <a:latin typeface="Microsoft YaHei"/>
                <a:ea typeface="Microsoft YaHei"/>
              </a:rPr>
              <a:t xml:space="preserve">每一项整改都绑定责任部门、截止日、证据材料和采购动作</a:t>
            </a:r>
          </a:p>
        </p:txBody>
      </p:sp>
      <p:sp>
        <p:nvSpPr>
          <p:cNvPr id="4" name="Section 4 Heading"/>
          <p:cNvSpPr txBox="1"/>
          <p:nvPr/>
        </p:nvSpPr>
        <p:spPr>
          <a:xfrm>
            <a:off x="658368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整改责任矩阵</a:t>
            </a:r>
          </a:p>
        </p:txBody>
      </p:sp>
      <p:sp>
        <p:nvSpPr>
          <p:cNvPr id="5" name="Section 5 Body"/>
          <p:cNvSpPr txBox="1"/>
          <p:nvPr/>
        </p:nvSpPr>
        <p:spPr>
          <a:xfrm>
            <a:off x="658368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环保联网：供应商设备部负责，2026-09-30 前提交联网截图和监测报告。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用工压降：供应商人事部负责，2026-08-31 前提交劳动合同和派遣比例台账。</a:t>
            </a:r>
          </a:p>
        </p:txBody>
      </p:sp>
      <p:sp>
        <p:nvSpPr>
          <p:cNvPr id="6" name="Section 6 Heading"/>
          <p:cNvSpPr txBox="1"/>
          <p:nvPr/>
        </p:nvSpPr>
        <p:spPr>
          <a:xfrm>
            <a:off x="4416552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证据材料</a:t>
            </a:r>
          </a:p>
        </p:txBody>
      </p:sp>
      <p:sp>
        <p:nvSpPr>
          <p:cNvPr id="7" name="Section 7 Body"/>
          <p:cNvSpPr txBox="1"/>
          <p:nvPr/>
        </p:nvSpPr>
        <p:spPr>
          <a:xfrm>
            <a:off x="4416552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每月提交排污许可、危废联单、安全巡检、员工花名册和包装回收台账。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华东智造集团供应链中心抽查原始记录，不接受只截图不留底稿。</a:t>
            </a:r>
          </a:p>
        </p:txBody>
      </p:sp>
      <p:sp>
        <p:nvSpPr>
          <p:cNvPr id="8" name="Section 8 Heading"/>
          <p:cNvSpPr txBox="1"/>
          <p:nvPr/>
        </p:nvSpPr>
        <p:spPr>
          <a:xfrm>
            <a:off x="8174736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采购动作</a:t>
            </a:r>
          </a:p>
        </p:txBody>
      </p:sp>
      <p:sp>
        <p:nvSpPr>
          <p:cNvPr id="9" name="Section 9 Body"/>
          <p:cNvSpPr txBox="1"/>
          <p:nvPr/>
        </p:nvSpPr>
        <p:spPr>
          <a:xfrm>
            <a:off x="8174736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完成整改前新增订单不得超过月均采购额的 70%。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连续两个季度 ESG 评分低于 B，启动替代供应商评估。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85216" y="6419088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 xml:space="preserve">供应链 ESG 审查 | 第 3 页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66928" y="310896"/>
            <a:ext cx="1101852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3600" b="1">
                <a:solidFill>
                  <a:srgbClr val="102A43"/>
                </a:solidFill>
                <a:latin typeface="Microsoft YaHei"/>
                <a:ea typeface="Microsoft YaHei"/>
              </a:rPr>
              <a:t xml:space="preserve">采购联动措施明确触发条件和恢复路径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585216" y="89611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600">
                <a:solidFill>
                  <a:srgbClr val="486581"/>
                </a:solidFill>
                <a:latin typeface="Microsoft YaHei"/>
                <a:ea typeface="Microsoft YaHei"/>
              </a:rPr>
              <a:t xml:space="preserve">目标不是简单扣分，而是让供应风险进入订单、付款和供应商准入流程</a:t>
            </a:r>
          </a:p>
        </p:txBody>
      </p:sp>
      <p:sp>
        <p:nvSpPr>
          <p:cNvPr id="4" name="Section 4 Heading"/>
          <p:cNvSpPr txBox="1"/>
          <p:nvPr/>
        </p:nvSpPr>
        <p:spPr>
          <a:xfrm>
            <a:off x="658368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暂停触发</a:t>
            </a:r>
          </a:p>
        </p:txBody>
      </p:sp>
      <p:sp>
        <p:nvSpPr>
          <p:cNvPr id="5" name="Section 5 Body"/>
          <p:cNvSpPr txBox="1"/>
          <p:nvPr/>
        </p:nvSpPr>
        <p:spPr>
          <a:xfrm>
            <a:off x="658368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逾期未完成环保联网或出现环保处罚，暂停新增采购订单。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出现重大安全事故，立即冻结验收和预付款流程。</a:t>
            </a:r>
          </a:p>
        </p:txBody>
      </p:sp>
      <p:sp>
        <p:nvSpPr>
          <p:cNvPr id="6" name="Section 6 Heading"/>
          <p:cNvSpPr txBox="1"/>
          <p:nvPr/>
        </p:nvSpPr>
        <p:spPr>
          <a:xfrm>
            <a:off x="4416552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恢复条件</a:t>
            </a:r>
          </a:p>
        </p:txBody>
      </p:sp>
      <p:sp>
        <p:nvSpPr>
          <p:cNvPr id="7" name="Section 7 Body"/>
          <p:cNvSpPr txBox="1"/>
          <p:nvPr/>
        </p:nvSpPr>
        <p:spPr>
          <a:xfrm>
            <a:off x="4416552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整改证据通过复核后，恢复季度订单评审。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ESG 评分连续两个季度回升至 B+ 以上，可恢复常规采购比例。</a:t>
            </a:r>
          </a:p>
        </p:txBody>
      </p:sp>
      <p:sp>
        <p:nvSpPr>
          <p:cNvPr id="8" name="Section 8 Heading"/>
          <p:cNvSpPr txBox="1"/>
          <p:nvPr/>
        </p:nvSpPr>
        <p:spPr>
          <a:xfrm>
            <a:off x="8174736" y="1572768"/>
            <a:ext cx="3127248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2200" b="1">
                <a:solidFill>
                  <a:srgbClr val="0B3D5C"/>
                </a:solidFill>
                <a:latin typeface="Microsoft YaHei"/>
                <a:ea typeface="Microsoft YaHei"/>
              </a:rPr>
              <a:t xml:space="preserve">贷后关联</a:t>
            </a:r>
          </a:p>
        </p:txBody>
      </p:sp>
      <p:sp>
        <p:nvSpPr>
          <p:cNvPr id="9" name="Section 9 Body"/>
          <p:cNvSpPr txBox="1"/>
          <p:nvPr/>
        </p:nvSpPr>
        <p:spPr>
          <a:xfrm>
            <a:off x="8174736" y="2048256"/>
            <a:ext cx="3127248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核心供应商 ESG 问题会影响项目交付、库存周转和授信用途核验。</a:t>
            </a:r>
          </a:p>
          <a:p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</a:rPr>
              <a:t xml:space="preserve">- 相关底稿同步进入贷后档案，供授信复核和采购审计调用。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85216" y="6419088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sz="1050">
                <a:solidFill>
                  <a:srgbClr val="6B7280"/>
                </a:solidFill>
                <a:latin typeface="Microsoft YaHei"/>
                <a:ea typeface="Microsoft YaHei"/>
              </a:rPr>
              <a:t xml:space="preserve">供应链 ESG 审查 | 第 4 页</a:t>
            </a:r>
          </a:p>
        </p:txBody>
      </p:sp>
    </p:spTree>
  </p:cSld>
  <p:clrMapOvr>
    <a:masterClrMapping/>
  </p:clrMapOvr>
</p:sld>
</file>